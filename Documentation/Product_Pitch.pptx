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834" r:id="rId3"/>
    <p:sldId id="835" r:id="rId4"/>
    <p:sldId id="836" r:id="rId5"/>
    <p:sldId id="837" r:id="rId6"/>
    <p:sldId id="838" r:id="rId7"/>
    <p:sldId id="839" r:id="rId8"/>
    <p:sldId id="840" r:id="rId9"/>
    <p:sldId id="841" r:id="rId10"/>
    <p:sldId id="842" r:id="rId11"/>
    <p:sldId id="845" r:id="rId12"/>
    <p:sldId id="84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6-04-24T15:10:19.30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11906 10636 0,'-35'0'203,"-18"0"-187,-194 0 0,-582-35-1,600 17 1,-247 18 0,299 0-16,1 0 15,88 0-15,17 0 16,-176 0-1,159 0 1,-71 0 0,71 0-16,-18 0 15,53 0-15,-17 0 16,-54 0 0,89 0-1,-53 18-15,-36-18 0,-35 18 16,-246-18-1,299 17-15,-70 1 32,70 0-17,70-1-15,-17 1 16,-52-1 0,-19 36-1,54-35-15,-301 176 16,248-123-1,-89 87 1,0 19 0,-264 140-1,370-246 1,-52 88 0,105-142-16,-18 89 31,53-71-16,1 1-15,17-19 16,0 177 15,0-141-15,17 35-16,1-17 16,70 105-1,142 301 1,-142-336-1,71 106 1,-124-195-16,106 107 31,-106-106-15,18 0-16,0 0 16,282 229-1,-194-229 1,142 159-1,-178-159 1,-69-18-16,34 0 0,336 124 31,-247-106-15,193-18 0,-52 18-1,247-53 1,-371 0-1,36-18-15,-35 1 16,-36-1-16,106-52 16,-177 52-1,18-35 1,-52 53 0,52-70-1,-88 52 1,35 0-16,0-17 15,36-18 1,-36 35-16,106-105 16,-123 88-1,35 17-15,0-17 16,0-18 0,-18 18-16,71-36 15,-71 53 1,71-105-1,-71 88-15,-17-1 16,35-17 0,-18 18-16,0-18 0,1 36 15,-19-36-15,18 0 16,18-35 0,-17 70-16,-19-17 15,89-71 1,-71 71-1,1-18 1,17 35-16,-18-17 16,71-53-1,-89 70 1,1-17-16,0 17 16,17-35-1,-17 35-15,34-52 16,-34 17-1,0 18-15,-1-1 16,36-69 0,-53 69-1,36-52 1,-36 53-16,17 0 16,-17 17-1,18-17-15,17-124 31,-35 124-31,18 17 16,-18-17 0,0-1-16,17-87 15,-17 88 1,18-1-16,-18 1 16,18 17-16,-18-34 15,35-143 16,-35 178-31,0-18 16,0-36 0,18 36-1,-18-1 1,17 1 0,-17 0-16,18 35 15,-18-18-15,18-52 16,-18 17-1,0 35 1,0-17-16,0 17 0,0 1 16,0-72-1,0 72-15,0-89 32,0 71-17,0-1 1,-18 19-16,0-54 31,18 54-15,-17-19-1,-1 1 1,0 35 0,18-18-1,0 1-15,-17-1 16,-1 0-1,18 1 1,-35-1 15,17 1-15,1-1 0,-19 0 15,19 18-31,-1-17 15,0 17 1,-52-18 15,17 0 1,35 18-32,-17 0 31,17 0 0,1 0-31,17 18 47</inkml:trace>
  <inkml:trace contextRef="#ctx0" brushRef="#br0" timeOffset="4849.71">25788 15099 0,'0'-35'187,"0"-36"-171,-18 36-16,18-36 16,-88-317 15,71 318-15,-19-72-1,19 107-15,17-35 0,0-1 16,-89-193 15,19 87 0,-18 36 1,70 88-17,-88-53 16,89 89-15,-19-1 0,1-17-16,-71-18 31,53 35-15,36 1-16,-1 17 15,-370-124 16,300 106-15,-318-70 15,371 71-31,0 17 0,-71-36 32,-18 36-1,107 0-31,-19 0 0,-70 0 31,-140 0 0,175 18-31,-53-18 0,72 18 16,-54-18 0,-53 35-1,88-35-15,-17 17 0,-370 54 31,52-18 1,353-53-32,-35 18 15,0-1 1,17 1 0,-476 123 15,89-88 0,352-35-15,-159 17 15,177-18-15,-18 1-1,-53 0 16,124-1-31,0-17 16,0 0-16,-124 0 31,88 0-15,18 0 0,0 0-1,-70 18 16,70-18-15,35 18 0,-34 35 15,34-36-15,18 18-1,0 54 16,0-19-15,18 354 15,70-72 1,-35-211-17,123 195 16,-70-213-15,-53-35-16,17-52 16,301 246 15,-301-247-31,36 0 16,0 18-1,300 35 16,-71-35-15,600-70 15,-353-19 1,-335 19-17,-124-36-15,230-35 31,17-1 1,-317 72-32,159-54 31,-106 36 0,-89 35-31,72-35 31,-36-1-15,-36 36-16,36 0 16,300-105 15,-283 87-31,1 0 16,0-17-16,-1 17 15,-35 1-15,106-36 31,-70 35-15,-53 18-16,-1 0 16,1 0-16,88-17 31,-89-1-31,1 18 16,0-18-16,-1 18 0,19 0 31,34-35 0,-17 35 0,-35 0 1,-1 0-1,1 0 0,0 0-31,-1 0 78,1 0-62,0 0 15,-1 0-15,1 0 15,17 0 0,-17 0 16,-1 0-31,1 0 15,17 0 0,-35-18-31,18 18 31,0 0 1,17-17-1,-17 17 0,17 0 0,-18 0 32,-17-18-32,18 18 0,0 0 1,-1 0 30,1 0-46</inkml:trace>
  <inkml:trace contextRef="#ctx0" brushRef="#br1" timeOffset="14278.25">15946 10301 0,'158'-141'219,"389"-300"-188,-282 229-15,-177 159-16,106-88 31,-176 141-15,87-70-1,-87 34 1,35 1-1,-35 35-15,17-35 16,0 0 0,0 17-16,71-53 31,-70 54-15,-19 17-16,-17-18 15,124-52 16,-107 70-15,36-53 0,35 0 15,-70 53-15,0-18-16,17 1 15,18-36 16,-36 53-31,19-53 32,-19 35-17,1 18-15,-18-18 16,18 18-16,-1-17 31,1 17-15,-18-18-16,18 0 31,-1 1 0,19 17 1,-19 0-17,1-18 16,-18 36 48,0-1-64</inkml:trace>
  <inkml:trace contextRef="#ctx0" brushRef="#br1" timeOffset="16156.52">18168 8555 0,'35'0'250,"71"0"-219,-71 0-31,1 0 16,52 0 0,35 0 15,-70 0-16,-17 0-15,-1 0 16,0 0-16,0 0 16,-17 0-16,106 0 31,-89 0-15,-18 0-1,1 0-15,35 0 31,-71 0 16,-35 35-31,53-17 0,-123 35 15,105-53-31,-17 0 15,0 35 1,-1-17-16,1-1 16,-194 71 15,194-70-15,-142 53 15,160-54-16,-19 1 1,19-18-16,-19 18 31</inkml:trace>
  <inkml:trace contextRef="#ctx0" brushRef="#br1" timeOffset="18286.61">15875 10037 0,'0'17'187,"0"54"-171,0-36-16,0-17 15,-18 52 1,1-17 0,-1 53 15,-17-53 0,35-36-31,0 1 16,0 70 15,-18-70-31,18 35 31,0 0 0,0-36 1,18-17 15,-1-17-16,19-1-16,-1 1 17,0-36-1,18 17 0,0 19-15,-18-1-1,1 0 1,105-52 15,-53 17 1,-53 35-32,53-35 31,-35 18 0,-35 35-31,0-18 16,35-17 15,-53 18-31,17 17 16,1-18-1,-1 0 16,-17 1-31,18 17 16,-36 0 31,18 17-31</inkml:trace>
  <inkml:trace contextRef="#ctx0" brushRef="#br1" timeOffset="20389.86">13388 8202 0</inkml:trace>
  <inkml:trace contextRef="#ctx0" brushRef="#br0" timeOffset="27326.34">13529 7920 0,'-18'0'172,"-17"0"-157,17 17-15,-17-17 16,0 36 0,17-36-16,-35 35 15,36-17 1,-19 17 15,36-17-15,-17-1-1,17 1 1,-18-18-16,1 35 16,17-17 15,0-1-15,0 1-1,17-18 16,1 18 1,-1-1-1,1-17-15,0 0-1,17 18 1,0 0-1,-17-1 1,17-17 0,18 18-1,-18 0 1,-17-18 0,-18 17-16,106-17 31,-89 0-16,19 0-15,17-17 32,-36 17-17,1-18-15,17 0 32,-17 18-17,0-17 1,-1-1-1,-17 0-15,0 1 16,18-36 15,-18 35-31,0-17 32,0 0-1,0 17-31,0-17 31,-18 17-15,1 18-16,-19-35 15,19 17 1,-36 0 15,17 18-15,19 0-1,-19-17 1,-16 17 15,34 0-15,0 0-16,1 0 16,-1 0 15,0 0 0,1 0-15,-1 0-16,-17 17 31,17-17-15,1 18-16,17 0 0,0-1 15,-36 54 16,19-53-31,17 35 32,-18 17-1,18-52-15,0-1-1,0 19 16,18-19-15,-1 1 15,19-18 1,-19 0-32,18 0 46</inkml:trace>
  <inkml:trace contextRef="#ctx0" brushRef="#br0" timeOffset="41660.71">18203 7955 0,'18'-18'203,"141"-70"-172,-89 71 0,-17-1 1,-18 36-1,-35 35 0,0-18 0,0-18 1,18 1-32,-18 0 31,35-1-16,-17-17 1,35 18 15,-35-18-15,-1 0 0,1-18-16,-1 1 0,-17-1 15,18 0-15,17-17 16,18-71-1,18 36-15,-53 17 16,17 18-16,18-36 16,-18-17 15,-35 70-15,0-17 15,-18 35 16,1 35-16,-1-17-31,0 52 31,-17 72 0,35-107-31,0-18 16,-53 142 15,36-141-15,-1 52 0,18-52-16,-18 0 15,-35 88 16,53-89-15,0 1 0,-17-1-1,17 1 17,0 0-32,-18-1 15,0-17 1</inkml:trace>
  <inkml:trace contextRef="#ctx0" brushRef="#br0" timeOffset="43226.35">19103 7990 0,'106'0'235,"158"18"-204,-228-18-31,69 0 31,-16-35 0,-72 17-31,19-17 32,-36 17-1,0 1-31,-18-1 15,0 0 1,-35 1 15,-70 17 1,35 35-1,-36 53 0,71 0 0,18 1 1,53-37-1,35 1 0,-18-53 0,35 18 1,19-18-1,-1 0-16,35 0 17,-52-18-17</inkml:trace>
  <inkml:trace contextRef="#ctx0" brushRef="#br0" timeOffset="44747.66">20161 7867 0,'-176'-18'188,"123"1"-173,35 17 1,-52 0 0,52 17 15,0-17-31,1 0 16,17 36-1,0-19 1,0 1-1,0-1-15,0 19 0,0-19 16,53 195 0,-18-88 31,-35-107-47,18-17 0,-1 35 15,1 1 1,0-19-1,-1 1 1,1 0 0,-1-1 15,-17 1 0,-17-18 16,-36 0-16,-18-35 1,18 17-17,-52 0 1,16 18 15,72 0-15,-89 0-1,71 0 1</inkml:trace>
  <inkml:trace contextRef="#ctx0" brushRef="#br2" timeOffset="70743.07">25612 11924 0,'211'-18'250,"-87"18"-234,52 0 15,-70 0-15,-18 0 15,-53 0-15,18 0-1,0 0 17,-35 0-17,0 0 1,17 0 15,-53 0 47,-17 0-46,17 0-1,1 18 0,-1-18-15,0 0-1</inkml:trace>
  <inkml:trace contextRef="#ctx0" brushRef="#br2" timeOffset="86909.59">26547 13264 0,'0'18'172,"0"53"-156,0-54-16,0 1 15,0 70 16,0-70-31,0-1 16,0 19 31,0-19 0</inkml:trace>
  <inkml:trace contextRef="#ctx0" brushRef="#br2" timeOffset="87873.84">26335 13300 0</inkml:trace>
  <inkml:trace contextRef="#ctx0" brushRef="#br2" timeOffset="88235.43">26335 13300 0,'264'0'125,"89"0"-78,-300 0-47,-35 0 0,17 0 16,-17 0 0,17 0 15,-17 0-31</inkml:trace>
  <inkml:trace contextRef="#ctx0" brushRef="#br2" timeOffset="103232.64">27711 13176 0,'-71'141'172,"-105"247"-156,123-282-1,18-35 1,17-36-1,0 0 1,1 18 15,17-70 63,70-160-63,-35 54-31,18-1 16,0 18-16,-35 36 16,141-195 15,-142 248-31,-17-1 15,18 0-15,0-17 32,-18 17-32,17 18 15,1 0 1,0 0 15,-1 0 0,-17 36 32,0 140-32,0 106 0,0-123 1,0-106-1,0-18 0,0-17 0,18-18 1</inkml:trace>
  <inkml:trace contextRef="#ctx0" brushRef="#br2" timeOffset="106219.24">29739 13458 0,'-123'0'140,"-1"0"-124,18 18-16,53 0 15,1 17-15,-1-17 16,0-1-16,35 1 0,-17-18 16,17 18-16,1-1 15,-1 1 1,0-18 0,18 17-1,0 1 1,18 17-1,35 36 1,-18-36 31,0 1-16,-35-19-31,-17 18 47,-19-17-47,-34 35 31,-1-18 1,36-17-32,35 0 0,-18-18 15,1 0-15,-1 17 47,53-17 31,159-53-47,-105 36-31,158-1 32</inkml:trace>
  <inkml:trace contextRef="#ctx0" brushRef="#br0" timeOffset="118268.18">29563 13723 0,'17'0'203,"36"0"-188,53 0 1,71 0 0,-160 0-1,71 0 1,18 0 0,-71 0-1,18 0-15,106 0 16,-88 0-1,229 0 17,-265 0-17,18 0 1,17 0 15,-34 0-15,-36-18-16,17 18 15,1 0 17,0 0-17,-1 0 1,18-17 0,36 17-1,0 0 1,-19 0-1,72 0 17,-106 0-17,-1 0 1,18 0 15,-52 0 16,-36 0-16,-106 0 1,-388 0-1,424 0-31,35 0 15,35 0-15,18 0 16,-18 0-16,35 0 0,-35 0 16,0 0-16,18 0 15,-36 0-15,36 0 16,0 0 0,-1 0-16,19 0 15,-1 0 1,-17 0-1,53 0 95,17 0-79,35 0-15,36 17-1,71 1 1,-72-18-16,319 0 31,-354 0-15,89 0-1,-141 0-15,-1 0 16,36 0 0,-35 0-1,17 0 1,-17 0 15,-53 0 32,-18 0-48,-18 0-15,-17 0 16,-106 0 0,123 0-16,-87 0 31,140 0-16,-17 0 1,-1 0 15,54 0 32,17 0-32,36 18 0,-18-18-31,17 0 0,18 0 16,36 17 0,17-17-16,18 0 0,-18 0 15,-53 0-15,-35 0 16,0 0-1,-18 0-15,1 0 32,-54 0 15,-300 0-16,160 0-31,52 0 15,0 0-15,71 0 0,-1 0 16,19 0-16,-19 0 16,19 0-16,-54 0 31,1 0 0,52 0-15,0 0-1,36 0 48,0 0-47</inkml:trace>
  <inkml:trace contextRef="#ctx0" brushRef="#br0" timeOffset="135713.9">3457 8943 0,'-70'0'187,"-124"0"-171,141 0 0,-124 0-1,124 0 1,18 0-1,-106 0 1,0 0 0,88 0 15,35 0-15,-17 0-1,17 0 1,1 0-1,-1 0 17,1 0-1,-1 0 0,-53-18 0,54 18-15,-1-17-16,-17 17 16,-89-18-1,71 18 17,36 0-17,-1 0 1,0 0 15,54 0 63,-19 0-79,1 0 1,176 0 0,-70 0-1,17 0-15,0 0 16,317 0 0,-34 0 15,-336 0-16,0 0-15,-17 0 16,-36 0-16,0 0 16,89 0-1,-107 0 1,54 0 0,35 18 15,-71-18-16,18 0-15,-35 0 16,176 0 0,-159 0-1,71 0 1,17 0 0,-105 0-16,-1 0 15,54 0 1,-36 17 15,-17-17-15,-53 0 156,-107 0-141,54 0-31,0 0 15,-124 0 1,-52 0 15,229 0-31,-1 0 16,-52 0 15,53 0 0,35 18 1,17-18 15,36 0-16,-17 18-16,405 34 17,-300 1-32,17-53 15,-34 18-15,-71-18 16,17 18-16,36-18 31,-88 0-15,17 0-1,-17 0 1,-1 0 15,-17-18 32,0 0-48,0 1-15,-17 17 32,17-36-1,0 19 0,0-1 0,0 1 1,0-19-17,0 19 1,-53-54 15,53 53-31,0-17 16,-18 18-16,1-1 0,-19-17 31,19-18-15,-54 0 15,1 17 0,52 36-15,-17 0-16,35-17 15,-36 17-15,1 0 16,-159-53 15,176 35-15,-123 1 15,88 17-31,18-18 16,-53 0-1,35 18-15,-159 0 32,124 0-32,35 0 15,-88-17 1,71-1-16,-1 18 0,36 0 16,-159-35 15,141 17-31,18 18 15,-71-17 1,35 17-16,36 0 0,-36 0 16,18 0-16,18 0 15,-71-18 1,71 18-16,0 0 0,-36 0 16,36 0-1,-124 0 16,106 0-15,36 0-16,-36 0 0,17 0 16,1 0-16,0 0 0,-18 0 15,35 0-15,-35 0 16,-88 0 15,88 0-31,18 0 0,-106 18 47,123-18-31,1 17-16,-19-17 0,36 18 15,-35-18 1,-18 35 15,18 0-15,17-17-16,18 0 0,-35 17 15,-18 18 1,-17 70 15,70-105-15,-18 0-16,18-1 0,-18-17 16,18 36 15,18-36 0,88 52 0,-36 1-15,265 36 15,-264-72-15,88 18-1,-89-35-15,71 18 16,283 17 15,-336-17-15,265 17 15,-283-35-31,-34 18 16,52-18-1,0 18 17,0-1-1,-53 1-31,1-18 16,264 53 15,-212-53-16,159 17 17,-177-17-32,-34 0 0,-19 0 15,36 0 1,53 0 15,-36-17 0,-34 17 1,52-36-1,-70 36-31,17-17 16,-18-1-1,19 18 1,17-17-1,0-1 17,0 0-1,-53 1-31,35-19 47,0 36-16,0-35 0,18 0 1,-35 17-32,0 1 15,-1-1 1,1 18-1,17-53 17,-17 53-1,17-35 0,36-18 0,-19-35 1,-34 88-32,-18-18 0,53-35 47,-53 18-16,0-1 0,0 1 0,0 18-31,-35 17 16,-89-71 15,71 53-31,-141-35 16,-17 18-1,-107-35 17,71 17-1,141 35-31,-193-35 16,52 53-1,158-17-15,1 17 16,-18-18-16,18 18 15,0 0-15,0-18 0,-71 18 16,-282-35 0,265 35-1,52 0-15,1-35 16,-1 35-16,36 0 16,-35 0-16,-107 0 15,-17 0 1,159 0-16,-18 0 15,-88 17 1,177 1 0,-19 0-1,19-18 1,-1 17 0,0 1-1,18 0 1,0 17-1,36-18 32,-36 1-47,17 0 16,19 17 15,-19-17-31,1-1 0,0 19 16,-1-19-16,18 36 0,177 212 47,53-36-16,-212-194-31,-36 1 16,36-1-16,53 0 15,-18 0 1,-17 1-16,-1-19 15,19-17-15,105 18 16,-71 0-16,-35 17 16,159 0-1,-194-35 1,88 0 0,-106 0-1,-17 0-15,0 0 16,17 0-16,-17 0 15,-1 0-15,36 0 16,-35 0 0,0 0-1,-1 0 1,1 0 0,-1 0-1,1 18 1,53-18-1,-36 17-15,0-17 0</inkml:trace>
  <inkml:trace contextRef="#ctx0" brushRef="#br0" timeOffset="140715.68">7426 8925 0,'388'-35'203,"670"0"-172,-828 35-15,-36 17-16,-88-17 15,-1 0-15,-16 18 0,-19-18 16,389 18 15,-371-18-15,35 0-16,-34 0 0,-1 0 16,247 0 15,-247 0-16,-17 0-15,87 0 16,19 0 0,-89 0-16,35 0 15,-52 0-15,-18 0 16,317 0 15,-352 0-15,53 0-1,-1 0 17,-52 0-1,-54 0 94,-34 0-94,35 0-15,17 0-16,-17 0 15,-777 0 17,654-18-17,16 18-15,19-18 0,35 18 16,-653-88 15,635 88-15,-106 0-1,142 0-15,-1 0 0,1 0 16,-18 0-16,-18 0 16,-635 0 15,635 0-31,53 0 16,-53 0-16,53 0 15,-52 0 1,69 0-16,-17 0 0,0 0 15,18 0-15,0 0 16,-18 0-16,35 0 16,-17 0-16,17 0 15,-34 0 1,-19 0 15,53 0 0,-17 18 1,17-18-1,18 17-31,0 19 47,18-36-16,0 0-31,17 17 31,-35 1-31,35-18 0,-17 0 16,52 18 15,36-1 0,18 19 1,193 52-1,-229-71-31,36 1 16,264 53 15,-317-71-16,-36 0-15,-18 0 16,177 0 15,-70 0-15,176 0 15,-106-36 0,-159 36-31,18 0 16,35-17 0,-52 17-1,-1 0 1,18 0 15,-36 0-15,1 0-1,70-36 17,-17 19-17,52-1 1,212-17 15,-299 35-31,-1 0 16,0 0-16,-17-18 15,-1 18-15,1 0 16,35 0 15,-35 0-31,-1-17 16,1 17 15,0 0-15,-1 0-1,18 0 17,-17 0-17,0-18 1,52 18 15,-52 0 0,0 0 1,-1 0-17,-34 0 79,-1 0-78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88EC9-108B-4C1B-83DD-3958FC38ADBE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824C30-6D9E-476B-B77F-F3E9234BB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695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4ABD5BB5-C395-2DF8-D539-36737393B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72FFC9B4-4278-A514-C0A7-72EAAC723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C8FFAD72-5149-46B7-A20E-DF4F96DE0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>
            <a:extLst>
              <a:ext uri="{FF2B5EF4-FFF2-40B4-BE49-F238E27FC236}">
                <a16:creationId xmlns:a16="http://schemas.microsoft.com/office/drawing/2014/main" id="{A97F5C20-8BAD-CE9B-4D38-1CF55F7253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1540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FF4B-C04A-07B0-094D-86746B3E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11CDF-21A0-9FEC-2F88-3F16669D6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E9D5F-C289-EA26-CF8B-CB52EFE4B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7C9EC-3730-8AE2-FDAB-25DFF0B1E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88D782-C295-45AF-8CC4-5EB981288A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0305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88D782-C295-45AF-8CC4-5EB981288A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4890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790FE-2DE2-387C-625F-AACE3FD7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0BB5F-7193-254E-6D58-C49599CA3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2A11E-0DFC-17FB-02F1-F2832FBB4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4184-A693-CBEB-6603-80242D92B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88D782-C295-45AF-8CC4-5EB981288A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9904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88D782-C295-45AF-8CC4-5EB981288A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906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F895-5022-38DA-2054-0C369F38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18D03-72B5-B7EA-E56D-FEE96073D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B98BE-F9C6-D5BF-E732-2895FF121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7E643-4F9A-B030-FD04-51F4A8BA2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88D782-C295-45AF-8CC4-5EB981288A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9669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B7A1-F227-707B-7BDC-D8504321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2DB9F-8180-6707-CF03-AF3179783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06CB4-CBD8-AEBB-903A-0350DDF74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16E92-3E9E-2C9C-DCEB-A027251CF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88D782-C295-45AF-8CC4-5EB981288A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7038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2D362-4CC2-1D7D-5B37-272761D9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E08CF-FFD7-C7F1-F7C9-8C0198C9E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2D4EC-36D9-9636-CD33-D59AAB049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B67E4-279A-3BB1-BEE4-9C8B181D0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88D782-C295-45AF-8CC4-5EB981288A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6775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84FC5-FC41-593A-CE1F-815FBD079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2E365E-2668-4D7D-D6CA-45785644B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5327DE-C9FC-0F99-323C-2F2E337E8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86F63-EAF0-9EE2-F333-429F9130E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88D782-C295-45AF-8CC4-5EB981288A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9449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86D0-C302-35A2-A260-3CDD14B6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58981-14D0-7908-694C-4FDB3C4F9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4AD2F-6AE3-A62A-2AF4-C18F91CE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14A88-FC08-9C8A-7686-6A2CB491B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88D782-C295-45AF-8CC4-5EB981288A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4089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96F09-20F2-35BA-24B1-9F1F480F7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56123-1D62-ADD1-FA0C-2BD0DD452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F69AF-F7DF-B81B-8AB5-D6DC2A832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2D953-B321-4AB6-BDC0-22F5630ABB9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083AB-FC70-8A5A-D7F0-5FDE1CCEE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5C2C7-91D8-F32F-4681-C82C690DF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CA72-65FA-4263-BF8B-DEAAFF14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786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3C9E-21A2-6AEC-F935-01AE3FECE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1C4A8-EEAA-709B-E7D8-A94940F9C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5CB98-C196-1C98-5395-7A903FCA2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2D953-B321-4AB6-BDC0-22F5630ABB9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9A7B5-CD9F-E073-ACF3-ABB0362F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FFE21-E08B-E1C6-53D3-B2168FF23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CA72-65FA-4263-BF8B-DEAAFF14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645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1B8F2-A817-A980-DF3B-EEA46994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D8E4E-6059-B45E-63BE-461BE15E6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0973C-03AC-C2B9-C6F6-9769D42E7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2D953-B321-4AB6-BDC0-22F5630ABB9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E0627-D60B-45F6-82B6-DF098D481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1A45C-9984-0A05-898A-54299197C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CA72-65FA-4263-BF8B-DEAAFF14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79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94D9-C603-9489-AD7B-9B29BD415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BA77A-7460-7243-5CE3-6200A86997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7E97E-EB1F-CE6C-BE08-CC97CEF2B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FA099-04A7-4743-340E-1A6BB0E03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2D953-B321-4AB6-BDC0-22F5630ABB9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851C8-1CA5-2842-47F8-2F3968CED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F9BD1-8D59-AF8C-75A2-40594C9B7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CA72-65FA-4263-BF8B-DEAAFF14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412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F077D-504E-616C-E57A-462302AAF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16C76-8AE2-8C1B-D6FE-271B310E7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99D90-AACD-ADC4-C0C6-9F7538BCA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17A5F7-C671-DD03-7777-39914C90D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B8A3B-FE50-AA67-9061-EF28AE4D5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87048E-11FF-0041-B668-864114A3E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2D953-B321-4AB6-BDC0-22F5630ABB9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3925A2-81E7-242F-6F7A-11D3AB234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7CF66-ADF3-C5D8-B3DB-C5F607DF0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CA72-65FA-4263-BF8B-DEAAFF14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836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425E-14AF-D05E-5A75-F571B4291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671A8B-F1AF-00C9-413A-455D558D3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2D953-B321-4AB6-BDC0-22F5630ABB9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999E9A-EA88-B788-653C-688A49822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8626F1-0E97-B4C8-298A-AF535208A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CA72-65FA-4263-BF8B-DEAAFF14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5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3DEE2D-8DE3-3E62-BD3E-E41DCB2FD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2D953-B321-4AB6-BDC0-22F5630ABB9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117663-261F-43DA-E6AB-187AFF62F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64F29-EF51-CC6B-1977-8A577E839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CA72-65FA-4263-BF8B-DEAAFF14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260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EDC27-0565-947B-5091-D75924F77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91B0D-BCBC-2EB5-BF56-ED560FFCE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ECF29-5DCA-3FD2-1125-ED5935714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91472-E1AC-49FE-8530-84014080B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2D953-B321-4AB6-BDC0-22F5630ABB9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426CC-D66D-F3E5-234B-90AC4DE0D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3AC24-2228-8A00-CDDB-8DBFCA85A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CA72-65FA-4263-BF8B-DEAAFF14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659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C728-E85A-FAE6-B508-F6AD875F1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FEC98-FE0D-DBCA-9297-0BE3B0F19B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A8081-FA6F-EE1C-167B-BE2DE11F0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9E3DC-5A5E-6873-F3B5-F7946AEB9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2D953-B321-4AB6-BDC0-22F5630ABB9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95BDE-FB40-8D0F-635F-F73A4273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077C5-EC2C-57B4-9C48-F0B259A11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CA72-65FA-4263-BF8B-DEAAFF14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404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1B6C5-03CC-2100-1BE1-3F23AD87B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7EDFB1-FD95-DDBD-9401-F725A23EB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71C53-144F-2C45-818F-D6CCFE566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2D953-B321-4AB6-BDC0-22F5630ABB9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E9FAC-C09F-069B-8B99-F66BB9F3D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3AEEB-D72E-37A7-78CA-CADFB663E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CA72-65FA-4263-BF8B-DEAAFF14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608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58EC26-BF42-5E02-EAE1-F18BDA4F6B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6B98C3-74E5-DE6E-A9E6-4763A6E07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8BAE1-8079-C241-3AF2-B37900E9E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2D953-B321-4AB6-BDC0-22F5630ABB9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3C707-E0C3-2F37-DBA2-72F6AF09E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27182-B479-496B-C98B-95B6F22A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CA72-65FA-4263-BF8B-DEAAFF14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332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White">
  <p:cSld name="Cover 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C:\Users\Admin\Downloads\ilovepdf_pages-to-jpg (1)\RU_PPT Template-White Blank_page-000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31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"/>
          <p:cNvGrpSpPr/>
          <p:nvPr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20" name="Google Shape;20;p2" descr="NIRF — SAVEETHA SCHOOL OF MANAGEMENT"/>
            <p:cNvPicPr preferRelativeResize="0"/>
            <p:nvPr/>
          </p:nvPicPr>
          <p:blipFill rotWithShape="1">
            <a:blip r:embed="rId3">
              <a:alphaModFix/>
            </a:blip>
            <a:srcRect l="27517" t="4377" r="28920" b="7151"/>
            <a:stretch/>
          </p:blipFill>
          <p:spPr>
            <a:xfrm>
              <a:off x="12122688" y="97913"/>
              <a:ext cx="843474" cy="5922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 descr="Bharath University - Top University In India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37939" y="182966"/>
              <a:ext cx="1158298" cy="4308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 descr="CREDISAPP for Ratings - Eloit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3072901" y="114292"/>
              <a:ext cx="1155067" cy="5758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" descr="MHRD | Innovation Cell - Hom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616154" y="789734"/>
              <a:ext cx="1857797" cy="658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Institution's Innovation Council | MHRD"/>
            <p:cNvPicPr preferRelativeResize="0"/>
            <p:nvPr/>
          </p:nvPicPr>
          <p:blipFill rotWithShape="1">
            <a:blip r:embed="rId7">
              <a:alphaModFix/>
            </a:blip>
            <a:srcRect l="8879" t="20720" r="8879" b="24345"/>
            <a:stretch/>
          </p:blipFill>
          <p:spPr>
            <a:xfrm>
              <a:off x="12886182" y="774201"/>
              <a:ext cx="1349698" cy="637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1058553" y="3124200"/>
            <a:ext cx="8421823" cy="175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000"/>
              <a:buFont typeface="Roboto Medium"/>
              <a:buNone/>
              <a:defRPr sz="40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1046572" y="5129788"/>
            <a:ext cx="6755716" cy="40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7093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Agenda White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" descr="C:\Users\Admin\Downloads\ilovepdf_pages-to-jpg (3)\RU_PPT Template-White Blank (1)_page-000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33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367146" y="6096000"/>
            <a:ext cx="5962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 Medium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Medium"/>
                <a:ea typeface="Roboto Medium"/>
                <a:cs typeface="Roboto Medium"/>
                <a:sym typeface="Roboto Medium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Roboto Medium"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695400" y="395786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Roboto Medium"/>
              <a:buNone/>
              <a:defRPr sz="28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1055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6248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092581-E2FB-3783-2626-2EE5CD432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75AD3-7231-5822-BE80-888E025D5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0056B-B630-966F-6F0E-C10601DFCD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2D953-B321-4AB6-BDC0-22F5630ABB92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9EE4A-7EC8-74E1-D7ED-E8F0CDE5BE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CEBFE-709D-5E76-06D8-25B095B37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8CA72-65FA-4263-BF8B-DEAAFF1498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11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730527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3.jpe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EB35E84-5960-AA15-D5D2-FCDA928F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0794CBDF-89DA-68F4-4998-89F67853C47F}"/>
              </a:ext>
            </a:extLst>
          </p:cNvPr>
          <p:cNvSpPr txBox="1"/>
          <p:nvPr/>
        </p:nvSpPr>
        <p:spPr>
          <a:xfrm>
            <a:off x="3720935" y="4204894"/>
            <a:ext cx="475013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AI-Powered Discussion Monitor and  Action Item Tracker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5715D715-9E59-BD2C-C8BA-7435D7135AF7}"/>
              </a:ext>
            </a:extLst>
          </p:cNvPr>
          <p:cNvSpPr txBox="1"/>
          <p:nvPr/>
        </p:nvSpPr>
        <p:spPr>
          <a:xfrm>
            <a:off x="1176619" y="2828856"/>
            <a:ext cx="983876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School of Computer Science &amp;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AI Application Development – IA1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8744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35E7-678C-8AF0-B273-A067CA79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F152-678E-EC39-589A-AFB6DAA8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Team Members &amp; Roles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182370-2B47-D13B-FC3B-F8B25566CAEF}"/>
              </a:ext>
            </a:extLst>
          </p:cNvPr>
          <p:cNvGraphicFramePr>
            <a:graphicFrameLocks noGrp="1"/>
          </p:cNvGraphicFramePr>
          <p:nvPr/>
        </p:nvGraphicFramePr>
        <p:xfrm>
          <a:off x="1177446" y="1813300"/>
          <a:ext cx="8045100" cy="3837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1980">
                  <a:extLst>
                    <a:ext uri="{9D8B030D-6E8A-4147-A177-3AD203B41FA5}">
                      <a16:colId xmlns:a16="http://schemas.microsoft.com/office/drawing/2014/main" val="50089967"/>
                    </a:ext>
                  </a:extLst>
                </a:gridCol>
                <a:gridCol w="4903120">
                  <a:extLst>
                    <a:ext uri="{9D8B030D-6E8A-4147-A177-3AD203B41FA5}">
                      <a16:colId xmlns:a16="http://schemas.microsoft.com/office/drawing/2014/main" val="975677717"/>
                    </a:ext>
                  </a:extLst>
                </a:gridCol>
              </a:tblGrid>
              <a:tr h="604345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729165"/>
                  </a:ext>
                </a:extLst>
              </a:tr>
              <a:tr h="506352">
                <a:tc>
                  <a:txBody>
                    <a:bodyPr/>
                    <a:lstStyle/>
                    <a:p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Markandeshwaragouda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Patil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77258"/>
                  </a:ext>
                </a:extLst>
              </a:tr>
              <a:tr h="506352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Manasa K 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Customer Contact Lead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612009"/>
                  </a:ext>
                </a:extLst>
              </a:tr>
              <a:tr h="506352">
                <a:tc>
                  <a:txBody>
                    <a:bodyPr/>
                    <a:lstStyle/>
                    <a:p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Pranathi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Test Lead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89344"/>
                  </a:ext>
                </a:extLst>
              </a:tr>
              <a:tr h="506352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Pavan H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011240"/>
                  </a:ext>
                </a:extLst>
              </a:tr>
              <a:tr h="506352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Navaneeth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502386"/>
                  </a:ext>
                </a:extLst>
              </a:tr>
              <a:tr h="531717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Rohith L, Nikhil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DevOps / GitHub / Product Build / Documents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703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456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886C-2AC8-ED81-81E1-EB56CE95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8B1A-D73F-F2F6-5303-A4369C417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153" y="1145062"/>
            <a:ext cx="7937961" cy="838202"/>
          </a:xfrm>
        </p:spPr>
        <p:txBody>
          <a:bodyPr/>
          <a:lstStyle/>
          <a:p>
            <a:pPr>
              <a:defRPr/>
            </a:pPr>
            <a:r>
              <a:rPr lang="en-US" sz="4000" b="1" i="1" dirty="0">
                <a:solidFill>
                  <a:schemeClr val="tx1"/>
                </a:solidFill>
                <a:latin typeface="Times New Roman" panose="02020603050405020304" pitchFamily="18" charset="0"/>
                <a:ea typeface="Roboto Medium" panose="02000000000000000000" pitchFamily="2" charset="0"/>
                <a:cs typeface="Times New Roman" panose="02020603050405020304" pitchFamily="18" charset="0"/>
              </a:rPr>
              <a:t>AI-Powered Discussion Monitor and  Action Item Tracker</a:t>
            </a:r>
            <a:br>
              <a:rPr lang="en-US" sz="3200" b="1" dirty="0">
                <a:latin typeface="+mn-lt"/>
                <a:ea typeface="Roboto Medium" panose="02000000000000000000" pitchFamily="2" charset="0"/>
                <a:cs typeface="Times New Roman" panose="02020603050405020304" pitchFamily="18" charset="0"/>
              </a:rPr>
            </a:br>
            <a:br>
              <a:rPr lang="en-US" sz="1600" dirty="0">
                <a:solidFill>
                  <a:srgbClr val="000000"/>
                </a:solidFill>
                <a:latin typeface="+mn-lt"/>
                <a:ea typeface="Roboto Medium" panose="02000000000000000000" pitchFamily="2" charset="0"/>
                <a:cs typeface="Times New Roman" panose="02020603050405020304" pitchFamily="18" charset="0"/>
                <a:sym typeface="Arial"/>
              </a:rPr>
            </a:br>
            <a:endParaRPr lang="en-US" dirty="0">
              <a:latin typeface="+mn-lt"/>
              <a:ea typeface="Roboto Medium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C28EA-830E-81C1-7404-A72E3E5F5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153" y="2355985"/>
            <a:ext cx="10519785" cy="3790386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indent="-457200" algn="just">
              <a:lnSpc>
                <a:spcPct val="100000"/>
              </a:lnSpc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virtual meetings and online collaboration environments become increasingly prevalent, maintaining structured, respectful, and outcome-oriented discussions has become a significant challenge. </a:t>
            </a:r>
          </a:p>
          <a:p>
            <a:pPr indent="-457200" algn="just">
              <a:lnSpc>
                <a:spcPct val="100000"/>
              </a:lnSpc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Important action items and decisions are missed or not tracked properly .</a:t>
            </a:r>
          </a:p>
          <a:p>
            <a:pPr indent="-457200" algn="just">
              <a:lnSpc>
                <a:spcPct val="100000"/>
              </a:lnSpc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Existing tools (Zoom, Teams, Meet) do not provide real-time intelligent monitoring or automation.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257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14202-8164-A88E-0CA6-8593095C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E602-D398-31B9-4AEB-C32E61CFB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784" y="695605"/>
            <a:ext cx="7937961" cy="83820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User/ Customer Understanding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F0759-F1BE-FAAD-BBB2-2AC231645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0575" y="1533807"/>
            <a:ext cx="10519785" cy="3790386"/>
          </a:xfrm>
        </p:spPr>
        <p:txBody>
          <a:bodyPr spcFirstLastPara="1" vert="horz" wrap="square" lIns="121920" tIns="60960" rIns="121920" bIns="60960" rtlCol="0" anchor="t" anchorCtr="0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1.Do meetings often go off-topic?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	Yes, discussions frequently deviate from the main agenda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2. Are important decisions or action items missed?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	Yes, key points are often forgotten or not properly recorded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3. Do some participants dominate or disrupt discussions?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	Yes, it affects balance and reduces meeting effectiveness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4. Is it difficult to track discussions in real-time?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	Yes, manual tracking is inefficient and error-prone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5. Do existing tools solve these issues?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	No, they lack real-time intelligent monitoring and guidance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6. What kind of solution would you prefer?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	An AI system that keeps discussions focused and tracks key points</a:t>
            </a:r>
          </a:p>
        </p:txBody>
      </p:sp>
    </p:spTree>
    <p:extLst>
      <p:ext uri="{BB962C8B-B14F-4D97-AF65-F5344CB8AC3E}">
        <p14:creationId xmlns:p14="http://schemas.microsoft.com/office/powerpoint/2010/main" val="549738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664E83-E528-83A6-464F-A94AA84AC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2552" y="195470"/>
            <a:ext cx="3397926" cy="26874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7FED20-68E6-5BE5-B752-5EC9DDF33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88" y="153173"/>
            <a:ext cx="3276660" cy="27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40335B-320D-AC19-F1EE-16AC5AEE2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304" y="195470"/>
            <a:ext cx="3173392" cy="2687405"/>
          </a:xfrm>
          <a:prstGeom prst="rect">
            <a:avLst/>
          </a:prstGeom>
        </p:spPr>
      </p:pic>
      <p:sp>
        <p:nvSpPr>
          <p:cNvPr id="8" name="AutoShape 2">
            <a:extLst>
              <a:ext uri="{FF2B5EF4-FFF2-40B4-BE49-F238E27FC236}">
                <a16:creationId xmlns:a16="http://schemas.microsoft.com/office/drawing/2014/main" id="{D5B1CC5F-3DAF-861F-F86E-ECA42A965F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16621BC-95FD-FE73-0416-895B36A148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88" y="3177019"/>
            <a:ext cx="3294660" cy="2772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B1E5F1B-01D5-A725-071B-B3A276C777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818" y="3177018"/>
            <a:ext cx="3294659" cy="2772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6D2EE07-A7D7-588F-455B-A2BF5D68AE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303" y="3177018"/>
            <a:ext cx="3294660" cy="277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6EAC8D1-3A14-27D1-4D8A-1B94B195891D}"/>
              </a:ext>
            </a:extLst>
          </p:cNvPr>
          <p:cNvSpPr txBox="1"/>
          <p:nvPr/>
        </p:nvSpPr>
        <p:spPr>
          <a:xfrm>
            <a:off x="1948543" y="6048600"/>
            <a:ext cx="10336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User interviews conducted to validate the problem statement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964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22C4-7666-AFE3-A07F-5A5D3E72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3FFD-F5AA-B7BE-FD50-CA6734509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8014648" cy="838202"/>
          </a:xfrm>
        </p:spPr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Ideal Customer Profile (ICP)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C3445-0940-99F0-AB5E-58C8CA362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99" y="1105474"/>
            <a:ext cx="10801201" cy="4320480"/>
          </a:xfrm>
        </p:spPr>
        <p:txBody>
          <a:bodyPr spcFirstLastPara="1" vert="horz" wrap="square" lIns="121920" tIns="60960" rIns="121920" bIns="60960" rtlCol="0" anchor="t" anchorCtr="0">
            <a:normAutofit fontScale="25000" lnSpcReduction="20000"/>
          </a:bodyPr>
          <a:lstStyle/>
          <a:p>
            <a:pPr marL="0" indent="0" algn="just">
              <a:spcBef>
                <a:spcPts val="27"/>
              </a:spcBef>
              <a:buNone/>
            </a:pP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27"/>
              </a:spcBef>
              <a:buNone/>
            </a:pPr>
            <a:r>
              <a:rPr lang="en-US" sz="9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Demographics:</a:t>
            </a:r>
            <a:endParaRPr lang="en-US" sz="9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lnSpc>
                <a:spcPct val="120000"/>
              </a:lnSpc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&amp; professionals in frequent meetings</a:t>
            </a:r>
          </a:p>
          <a:p>
            <a:pPr lvl="1" indent="-457200" algn="just">
              <a:lnSpc>
                <a:spcPct val="120000"/>
              </a:lnSpc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Zoom / Google Meet / Teams</a:t>
            </a:r>
          </a:p>
          <a:p>
            <a:pPr lvl="1" indent="-457200" algn="just">
              <a:lnSpc>
                <a:spcPct val="120000"/>
              </a:lnSpc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in group discussions / collaborations</a:t>
            </a:r>
          </a:p>
          <a:p>
            <a:pPr lvl="1" indent="-457200" algn="just">
              <a:lnSpc>
                <a:spcPct val="120000"/>
              </a:lnSpc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Teams of 3–10 members</a:t>
            </a:r>
          </a:p>
          <a:p>
            <a:pPr marL="0" indent="0" algn="just">
              <a:lnSpc>
                <a:spcPct val="120000"/>
              </a:lnSpc>
              <a:spcBef>
                <a:spcPts val="27"/>
              </a:spcBef>
              <a:buNone/>
            </a:pPr>
            <a:endParaRPr lang="en-US" sz="9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27"/>
              </a:spcBef>
              <a:buNone/>
            </a:pPr>
            <a:r>
              <a:rPr lang="en-US" sz="9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Psychographics:</a:t>
            </a:r>
            <a:endParaRPr lang="en-US" sz="9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lnSpc>
                <a:spcPct val="120000"/>
              </a:lnSpc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 focused and structured discussions</a:t>
            </a:r>
          </a:p>
          <a:p>
            <a:pPr lvl="1" indent="-457200" algn="just">
              <a:lnSpc>
                <a:spcPct val="120000"/>
              </a:lnSpc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 distractions and off-topic conversations</a:t>
            </a:r>
          </a:p>
          <a:p>
            <a:pPr lvl="1" indent="-457200" algn="just">
              <a:lnSpc>
                <a:spcPct val="120000"/>
              </a:lnSpc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 important points or action items</a:t>
            </a:r>
          </a:p>
          <a:p>
            <a:pPr lvl="1" indent="-457200" algn="just">
              <a:lnSpc>
                <a:spcPct val="120000"/>
              </a:lnSpc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note-taking during meetings difficult</a:t>
            </a:r>
          </a:p>
          <a:p>
            <a:pPr lvl="1" indent="-457200" algn="just">
              <a:lnSpc>
                <a:spcPct val="120000"/>
              </a:lnSpc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9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to AI-based tools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70A387-9C26-9A73-A092-272856CBDAA9}"/>
              </a:ext>
            </a:extLst>
          </p:cNvPr>
          <p:cNvSpPr/>
          <p:nvPr/>
        </p:nvSpPr>
        <p:spPr>
          <a:xfrm>
            <a:off x="8710048" y="2293750"/>
            <a:ext cx="2960176" cy="27122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Key Problems: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Unstructured discussions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Missed important points  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Distractions in meetings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288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6636C-7729-37EE-3B86-F1312175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B525-9939-960F-B359-A89DCC47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395786"/>
            <a:ext cx="6461013" cy="838202"/>
          </a:xfrm>
        </p:spPr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Customer Persona (CP)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86C9A-5673-235A-9BD4-3F585055F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314" y="1233988"/>
            <a:ext cx="11050287" cy="4796698"/>
          </a:xfrm>
        </p:spPr>
        <p:txBody>
          <a:bodyPr spcFirstLastPara="1" vert="horz" wrap="square" lIns="121920" tIns="60960" rIns="121920" bIns="60960" rtlCol="0" anchor="t" anchorCtr="0">
            <a:noAutofit/>
          </a:bodyPr>
          <a:lstStyle/>
          <a:p>
            <a:pPr marL="342900" indent="-342900" algn="just">
              <a:lnSpc>
                <a:spcPct val="120000"/>
              </a:lnSpc>
              <a:spcBef>
                <a:spcPts val="27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: Puneeth</a:t>
            </a:r>
          </a:p>
          <a:p>
            <a:pPr marL="342900" indent="-342900" algn="just">
              <a:lnSpc>
                <a:spcPct val="120000"/>
              </a:lnSpc>
              <a:spcBef>
                <a:spcPts val="27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: 31 years  </a:t>
            </a:r>
          </a:p>
          <a:p>
            <a:pPr marL="342900" indent="-342900" algn="just">
              <a:lnSpc>
                <a:spcPct val="120000"/>
              </a:lnSpc>
              <a:spcBef>
                <a:spcPts val="27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 : BCA  </a:t>
            </a:r>
          </a:p>
          <a:p>
            <a:pPr marL="342900" indent="-342900" algn="just">
              <a:lnSpc>
                <a:spcPct val="120000"/>
              </a:lnSpc>
              <a:spcBef>
                <a:spcPts val="27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Locality 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Benagluru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Urban  </a:t>
            </a:r>
          </a:p>
          <a:p>
            <a:pPr marL="342900" indent="-342900" algn="just">
              <a:lnSpc>
                <a:spcPct val="120000"/>
              </a:lnSpc>
              <a:spcBef>
                <a:spcPts val="27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: HR(Team-based projects)  </a:t>
            </a:r>
          </a:p>
          <a:p>
            <a:pPr marL="342900" indent="-342900" algn="just">
              <a:lnSpc>
                <a:spcPct val="120000"/>
              </a:lnSpc>
              <a:spcBef>
                <a:spcPts val="27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habits : Uses laptop/mobile for online meetings  </a:t>
            </a:r>
          </a:p>
          <a:p>
            <a:pPr marL="342900" indent="-342900" algn="just">
              <a:lnSpc>
                <a:spcPct val="120000"/>
              </a:lnSpc>
              <a:spcBef>
                <a:spcPts val="27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Platforms used : Google Meet / Zoom / Teams </a:t>
            </a:r>
          </a:p>
          <a:p>
            <a:pPr marL="342900" indent="-342900" algn="just">
              <a:lnSpc>
                <a:spcPct val="120000"/>
              </a:lnSpc>
              <a:spcBef>
                <a:spcPts val="27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 : Attends frequent online meetings, participates in group discussions and collaborations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ACDA62-4A7E-654A-90B2-4FD82F08D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058" y="1233988"/>
            <a:ext cx="2732315" cy="283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8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D599-550D-934B-834C-4B89AA626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FA05-49D5-8965-5B47-01BD88A22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99" y="593270"/>
            <a:ext cx="6211927" cy="838202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Product USP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32972-71CF-5F3C-FC9D-E36A0D2D5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829" y="1773936"/>
            <a:ext cx="10801201" cy="4071693"/>
          </a:xfrm>
        </p:spPr>
        <p:txBody>
          <a:bodyPr spcFirstLastPara="1" vert="horz" wrap="square" lIns="121920" tIns="60960" rIns="121920" bIns="60960" rtlCol="0" anchor="t" anchorCtr="0">
            <a:noAutofit/>
          </a:bodyPr>
          <a:lstStyle/>
          <a:p>
            <a:pPr indent="-4572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Keeps meetings focused by detecting and reducing off-topic discussions.</a:t>
            </a:r>
          </a:p>
          <a:p>
            <a:pPr indent="-4572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captures key points, decisions, and action items in real-time.</a:t>
            </a:r>
          </a:p>
          <a:p>
            <a:pPr indent="-4572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Minimizes distractions by identifying unnecessary interruptions  </a:t>
            </a:r>
          </a:p>
          <a:p>
            <a:pPr indent="-4572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clear summaries after meetings, saving time and effort  </a:t>
            </a:r>
          </a:p>
          <a:p>
            <a:pPr indent="-4572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Enhances productivity by improving meeting efficiency  </a:t>
            </a:r>
          </a:p>
          <a:p>
            <a:pPr indent="-4572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note-taking effort for users  </a:t>
            </a:r>
          </a:p>
          <a:p>
            <a:pPr indent="-457200" algn="just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seamlessly with existing platforms like Zoom / Google Meet</a:t>
            </a:r>
          </a:p>
        </p:txBody>
      </p:sp>
    </p:spTree>
    <p:extLst>
      <p:ext uri="{BB962C8B-B14F-4D97-AF65-F5344CB8AC3E}">
        <p14:creationId xmlns:p14="http://schemas.microsoft.com/office/powerpoint/2010/main" val="3049020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565F-E02D-F94D-F107-CD2878B8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3AFC-E9B9-CA66-D2C9-C42DE2F1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05" y="876059"/>
            <a:ext cx="10447881" cy="838202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Use Cases &amp; High Level Requirements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AADE7-0B30-77FD-7C8B-41A1B856F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383" y="2207889"/>
            <a:ext cx="10801201" cy="3774052"/>
          </a:xfrm>
        </p:spPr>
        <p:txBody>
          <a:bodyPr spcFirstLastPara="1" vert="horz" wrap="square" lIns="121920" tIns="60960" rIns="121920" bIns="60960" rtlCol="0" anchor="t" anchorCtr="0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1.Real-Time Meeting Monitoring :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Input: Live audio/video from meeting (Zoom/Meet)  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Output: Detection of off-topic discussions and alerts to stay focused 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2.Automatic Note-Taking :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Input: Ongoing conversation during meeting  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Output: Captured key points, decisions, and action items  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3.Distraction Detection :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Input: Participant interactions and conversation flow 				Output: Identification of unnecessary interruptions or distractions</a:t>
            </a:r>
          </a:p>
        </p:txBody>
      </p:sp>
    </p:spTree>
    <p:extLst>
      <p:ext uri="{BB962C8B-B14F-4D97-AF65-F5344CB8AC3E}">
        <p14:creationId xmlns:p14="http://schemas.microsoft.com/office/powerpoint/2010/main" val="2045343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C42DB-4FDB-88F4-942F-505E2C3AA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0B4EF-A82E-1249-9551-2BAF64E81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05" y="876059"/>
            <a:ext cx="10447881" cy="838202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Use Cases &amp; High Level Requirements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CD1CA-653A-5616-2D85-C98C67E17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383" y="2207889"/>
            <a:ext cx="10801201" cy="2935850"/>
          </a:xfrm>
        </p:spPr>
        <p:txBody>
          <a:bodyPr spcFirstLastPara="1" vert="horz" wrap="square" lIns="121920" tIns="60960" rIns="121920" bIns="60960" rtlCol="0" anchor="t" anchorCtr="0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Meeting Summary Generation :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Input: Complete meeting data  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Output: Structured summary with key highlights and decisions  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Smart Attendance Management  :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Input: Participant list and meeting attendance data  </a:t>
            </a:r>
          </a:p>
          <a:p>
            <a:pPr marL="0" indent="0" algn="just">
              <a:lnSpc>
                <a:spcPct val="100000"/>
              </a:lnSpc>
              <a:spcBef>
                <a:spcPts val="27"/>
              </a:spcBef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Output: Automatically generated student attendance list (first to last) 	accessible by the teacher</a:t>
            </a:r>
          </a:p>
        </p:txBody>
      </p:sp>
    </p:spTree>
    <p:extLst>
      <p:ext uri="{BB962C8B-B14F-4D97-AF65-F5344CB8AC3E}">
        <p14:creationId xmlns:p14="http://schemas.microsoft.com/office/powerpoint/2010/main" val="3811620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E1081-ED83-5A03-3AF1-E77B4D78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EBF3-B90A-D780-71A8-0F6F74206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10462457" cy="838202"/>
          </a:xfr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Proof of Concept (PoC) / Prototype Demo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1E6CD-28A4-0547-FCFA-8E8B38A7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773936"/>
            <a:ext cx="10801201" cy="2935850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r>
              <a:rPr lang="en-US" dirty="0">
                <a:ea typeface="Calibri"/>
                <a:cs typeface="Calibri"/>
              </a:rPr>
              <a:t>Show  demo</a:t>
            </a:r>
            <a:endParaRPr lang="en-US" dirty="0"/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141633-EBBF-8950-F5D0-5E564937EE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44" y="1392936"/>
            <a:ext cx="11227600" cy="45071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754A9DE-CFCA-E355-79D5-E4A089119923}"/>
                  </a:ext>
                </a:extLst>
              </p14:cNvPr>
              <p14:cNvContentPartPr/>
              <p14:nvPr/>
            </p14:nvContentPartPr>
            <p14:xfrm>
              <a:off x="272880" y="2673360"/>
              <a:ext cx="11113200" cy="3035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754A9DE-CFCA-E355-79D5-E4A0891199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3520" y="2664000"/>
                <a:ext cx="11131920" cy="305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970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835</Words>
  <Application>Microsoft Office PowerPoint</Application>
  <PresentationFormat>Widescreen</PresentationFormat>
  <Paragraphs>127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Roboto Medium</vt:lpstr>
      <vt:lpstr>Times New Roman</vt:lpstr>
      <vt:lpstr>Wingdings</vt:lpstr>
      <vt:lpstr>Office Theme</vt:lpstr>
      <vt:lpstr>1_Office Theme</vt:lpstr>
      <vt:lpstr>PowerPoint Presentation</vt:lpstr>
      <vt:lpstr>Team Members &amp; Roles</vt:lpstr>
      <vt:lpstr>AI-Powered Discussion Monitor and  Action Item Tracker  </vt:lpstr>
      <vt:lpstr> User/ Customer Understanding</vt:lpstr>
      <vt:lpstr>PowerPoint Presentation</vt:lpstr>
      <vt:lpstr>Ideal Customer Profile (ICP)</vt:lpstr>
      <vt:lpstr>Customer Persona (CP)</vt:lpstr>
      <vt:lpstr> Product USP</vt:lpstr>
      <vt:lpstr> Use Cases &amp; High Level Requirements</vt:lpstr>
      <vt:lpstr> Use Cases &amp; High Level Requirements</vt:lpstr>
      <vt:lpstr> Proof of Concept (PoC) / Prototype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PRANATHI RN</dc:creator>
  <cp:lastModifiedBy>Markandeshwaragouda Patil</cp:lastModifiedBy>
  <cp:revision>3</cp:revision>
  <dcterms:created xsi:type="dcterms:W3CDTF">2026-03-27T06:37:29Z</dcterms:created>
  <dcterms:modified xsi:type="dcterms:W3CDTF">2026-04-24T15:26:58Z</dcterms:modified>
</cp:coreProperties>
</file>